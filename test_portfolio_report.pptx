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108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9144000" cy="54864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PORTFOLIO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BBCC"/>
                </a:solidFill>
                <a:latin typeface="Calibri"/>
              </a:rPr>
              <a:t>Prepared for Jane Doe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999AA"/>
                </a:solidFill>
                <a:latin typeface="Calibri"/>
              </a:rPr>
              <a:t>Report Date: 2026-02-06   |   Portfolio Value: 250,000.00 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3460"/>
                </a:solidFill>
                <a:latin typeface="Calibri"/>
              </a:rPr>
              <a:t>Strategy: Max Sharpe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66666"/>
                </a:solidFill>
                <a:latin typeface="Calibri"/>
              </a:rPr>
              <a:t>Generated by Portfolio Optimizer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KEY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994E"/>
                </a:solidFill>
                <a:latin typeface="Calibri"/>
              </a:rPr>
              <a:t>1.20%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1M</a:t>
            </a:r>
          </a:p>
        </p:txBody>
      </p:sp>
      <p:sp>
        <p:nvSpPr>
          <p:cNvPr id="7" name="Rectangle 6"/>
          <p:cNvSpPr/>
          <p:nvPr/>
        </p:nvSpPr>
        <p:spPr>
          <a:xfrm>
            <a:off x="2606040" y="118872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994E"/>
                </a:solidFill>
                <a:latin typeface="Calibri"/>
              </a:rPr>
              <a:t>3.40%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YTD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18872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994E"/>
                </a:solidFill>
                <a:latin typeface="Calibri"/>
              </a:rPr>
              <a:t>9.10%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1Y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03720" y="118872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0" y="141732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994E"/>
                </a:solidFill>
                <a:latin typeface="Calibri"/>
              </a:rPr>
              <a:t>18.40%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2103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Since Inception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83464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63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460"/>
                </a:solidFill>
                <a:latin typeface="Calibri"/>
              </a:rPr>
              <a:t>14.50%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Volatility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283464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3063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F3460"/>
                </a:solidFill>
                <a:latin typeface="Calibri"/>
              </a:rPr>
              <a:t>1.12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Sharpe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283464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063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94560"/>
                </a:solidFill>
                <a:latin typeface="Calibri"/>
              </a:rPr>
              <a:t>-8.70%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Max Drawdown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03720" y="2834640"/>
            <a:ext cx="1920240" cy="1463040"/>
          </a:xfrm>
          <a:prstGeom prst="rect">
            <a:avLst/>
          </a:prstGeom>
          <a:solidFill>
            <a:srgbClr val="F0F0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0" y="306324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994E"/>
                </a:solidFill>
                <a:latin typeface="Calibri"/>
              </a:rPr>
              <a:t>+22,750 EUR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3749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6666"/>
                </a:solidFill>
                <a:latin typeface="Calibri"/>
              </a:rPr>
              <a:t>Exp. Return (EUR)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ASSET ALLOCATION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80467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HOLDINGS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Weight</a:t>
                      </a:r>
                    </a:p>
                  </a:txBody>
                  <a:tcPr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Market Value</a:t>
                      </a:r>
                    </a:p>
                  </a:txBody>
                  <a:tcPr anchor="ctr">
                    <a:solidFill>
                      <a:srgbClr val="0F34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P/L</a:t>
                      </a:r>
                    </a:p>
                  </a:txBody>
                  <a:tcPr anchor="ctr">
                    <a:solidFill>
                      <a:srgbClr val="0F34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SPY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35.0%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87,500.00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A994E"/>
                          </a:solidFill>
                          <a:latin typeface="Calibri"/>
                        </a:rPr>
                        <a:t>+4,200.00 EUR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AGG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40.0%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100,000.00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A994E"/>
                          </a:solidFill>
                          <a:latin typeface="Calibri"/>
                        </a:rPr>
                        <a:t>+1,500.00 EUR</a:t>
                      </a:r>
                    </a:p>
                  </a:txBody>
                  <a:tcPr anchor="ctr"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GLD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15.0%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37,500.00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6A994E"/>
                          </a:solidFill>
                          <a:latin typeface="Calibri"/>
                        </a:rPr>
                        <a:t>+2,100.00 EUR</a:t>
                      </a:r>
                    </a:p>
                  </a:txBody>
                  <a:tcPr anchor="ctr">
                    <a:solidFill>
                      <a:srgbClr val="F0F0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VNQ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10.0%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333333"/>
                          </a:solidFill>
                          <a:latin typeface="Calibri"/>
                        </a:rPr>
                        <a:t>25,000.00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E94560"/>
                          </a:solidFill>
                          <a:latin typeface="Calibri"/>
                        </a:rPr>
                        <a:t>-300.00 EUR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PERFORMANCE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8503920" cy="3474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666666"/>
                </a:solidFill>
                <a:latin typeface="Calibri"/>
              </a:rPr>
              <a:t>DRAWDOWN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663440"/>
            <a:ext cx="850392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COMMENTARY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The portfolio maintained a defensive tilt with 40% allocation to bonds.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Equity exposure via broad market ETFs captured the late-year rally.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9436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Calibri"/>
              </a:rPr>
              <a:t>This report is for informational purposes only and does not constitute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